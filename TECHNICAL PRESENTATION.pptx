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_slid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376672"/>
            <a:ext cx="3017520" cy="38404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1"/>
          <p:cNvSpPr/>
          <p:nvPr/>
        </p:nvSpPr>
        <p:spPr>
          <a:xfrm>
            <a:off x="548640" y="539496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Dr.DUMPALA PRASANTH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Multi-Agent Reinforcement Learning?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76072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Multi-Agent Reinforcement Learning (MARL) extends classical Reinforcement Learning to settings where multiple autonomous agents learn and act within a shared environment simultaneously.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576072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3C4A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agent perceives (partial) state and chooses its own actions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3C4A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Agents may cooperate, compete, or exhibit mixed behavior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3C4A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environment becomes non-stationary from any single agent's view, since all agents adapt together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66560" y="1554480"/>
            <a:ext cx="4846320" cy="4480560"/>
          </a:xfrm>
          <a:prstGeom prst="roundRect">
            <a:avLst>
              <a:gd name="adj" fmla="val 2449"/>
            </a:avLst>
          </a:prstGeom>
          <a:solidFill>
            <a:srgbClr val="F4F6FC"/>
          </a:solidFill>
        </p:spPr>
      </p:sp>
      <p:sp>
        <p:nvSpPr>
          <p:cNvPr id="7" name="Shape 5"/>
          <p:cNvSpPr/>
          <p:nvPr/>
        </p:nvSpPr>
        <p:spPr>
          <a:xfrm>
            <a:off x="7772400" y="4846320"/>
            <a:ext cx="283464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</p:spPr>
      </p:sp>
      <p:sp>
        <p:nvSpPr>
          <p:cNvPr id="8" name="Text 6"/>
          <p:cNvSpPr/>
          <p:nvPr/>
        </p:nvSpPr>
        <p:spPr>
          <a:xfrm>
            <a:off x="7772400" y="484632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ENVIRONMENT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23760" y="1920240"/>
            <a:ext cx="685800" cy="685800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10" name="Text 8"/>
          <p:cNvSpPr/>
          <p:nvPr/>
        </p:nvSpPr>
        <p:spPr>
          <a:xfrm>
            <a:off x="7223760" y="192024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A1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566660" y="2606040"/>
            <a:ext cx="1623060" cy="2240280"/>
          </a:xfrm>
          <a:prstGeom prst="line">
            <a:avLst/>
          </a:prstGeom>
          <a:noFill/>
          <a:ln w="19050">
            <a:solidFill>
              <a:srgbClr val="5A6178"/>
            </a:solidFill>
            <a:prstDash val="dash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869680" y="1828800"/>
            <a:ext cx="685800" cy="685800"/>
          </a:xfrm>
          <a:prstGeom prst="ellipse">
            <a:avLst/>
          </a:prstGeom>
          <a:solidFill>
            <a:srgbClr val="2C7A7B"/>
          </a:solidFill>
        </p:spPr>
      </p:sp>
      <p:sp>
        <p:nvSpPr>
          <p:cNvPr id="13" name="Text 11"/>
          <p:cNvSpPr/>
          <p:nvPr/>
        </p:nvSpPr>
        <p:spPr>
          <a:xfrm>
            <a:off x="8869680" y="18288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A2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 flipH="1">
            <a:off x="9189720" y="2514600"/>
            <a:ext cx="22860" cy="2331720"/>
          </a:xfrm>
          <a:prstGeom prst="line">
            <a:avLst/>
          </a:prstGeom>
          <a:noFill/>
          <a:ln w="19050">
            <a:solidFill>
              <a:srgbClr val="5A6178"/>
            </a:solidFill>
            <a:prstDash val="dash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332720" y="2103120"/>
            <a:ext cx="685800" cy="6858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10332720" y="210312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A3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 flipH="1">
            <a:off x="9189720" y="2788920"/>
            <a:ext cx="1485900" cy="2057400"/>
          </a:xfrm>
          <a:prstGeom prst="line">
            <a:avLst/>
          </a:prstGeom>
          <a:noFill/>
          <a:ln w="19050">
            <a:solidFill>
              <a:srgbClr val="5A6178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Single-Agent RL vs Multi-Agent RL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F4F6FC"/>
          </a:solidFill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SINGLE-AGENT RL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48056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agent, one policy to optimize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Environment is stationary given a fixed policy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Well-understood convergence guarantees (e.g. Q-learning)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Reward attributed directly to the single actor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519672" y="164592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1E2761"/>
          </a:solidFill>
        </p:spPr>
      </p:sp>
      <p:sp>
        <p:nvSpPr>
          <p:cNvPr id="8" name="Text 6"/>
          <p:cNvSpPr/>
          <p:nvPr/>
        </p:nvSpPr>
        <p:spPr>
          <a:xfrm>
            <a:off x="6793992" y="19202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MULTI-AGENT RL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39712" y="2514600"/>
            <a:ext cx="448056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agents, each learning its own policy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Environment is non-stationary — other agents keep changing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Convergence is harder; equilibrium concepts replace optimality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Credit assignment across agents is a core challenge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Formal Framework: The Markov Game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C4A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MARL problems are formalized as a Stochastic (Markov) Game — a tuple that generalizes the single-agent MDP to N interacting agents.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194560" y="2286000"/>
            <a:ext cx="7772400" cy="91440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4560" y="228600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 = ( N , S , { Aᵢ } , T , { Rᵢ } , γ 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384048" cy="384048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8" name="Text 6"/>
          <p:cNvSpPr/>
          <p:nvPr/>
        </p:nvSpPr>
        <p:spPr>
          <a:xfrm>
            <a:off x="548640" y="34290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338328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of agents (i = 1 ... N) acting in the environment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3429000"/>
            <a:ext cx="384048" cy="384048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11" name="Text 9"/>
          <p:cNvSpPr/>
          <p:nvPr/>
        </p:nvSpPr>
        <p:spPr>
          <a:xfrm>
            <a:off x="6172200" y="34290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338328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state space describing the full environment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384048" cy="384048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14" name="Text 12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Aᵢ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97764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 space available to agent i; joint action A = A₁×...×Aₙ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4023360"/>
            <a:ext cx="384048" cy="384048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17" name="Text 15"/>
          <p:cNvSpPr/>
          <p:nvPr/>
        </p:nvSpPr>
        <p:spPr>
          <a:xfrm>
            <a:off x="6172200" y="40233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75120" y="397764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Transition function T(s' | s, a₁,...,aₙ) — depends on the joint action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384048" cy="384048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20" name="Text 18"/>
          <p:cNvSpPr/>
          <p:nvPr/>
        </p:nvSpPr>
        <p:spPr>
          <a:xfrm>
            <a:off x="548640" y="4617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Rᵢ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1560" y="457200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Individual reward function for agent i (may differ per agent)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72200" y="4617720"/>
            <a:ext cx="384048" cy="384048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23" name="Text 21"/>
          <p:cNvSpPr/>
          <p:nvPr/>
        </p:nvSpPr>
        <p:spPr>
          <a:xfrm>
            <a:off x="6172200" y="4617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γ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57200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Discount factor applied to future rewards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DIFFICULTIES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Challenges in MARL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4F6FC"/>
          </a:solidFill>
        </p:spPr>
      </p:sp>
      <p:sp>
        <p:nvSpPr>
          <p:cNvPr id="5" name="Shape 3"/>
          <p:cNvSpPr/>
          <p:nvPr/>
        </p:nvSpPr>
        <p:spPr>
          <a:xfrm>
            <a:off x="1485900" y="2011680"/>
            <a:ext cx="731520" cy="731520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6" name="Text 4"/>
          <p:cNvSpPr/>
          <p:nvPr/>
        </p:nvSpPr>
        <p:spPr>
          <a:xfrm>
            <a:off x="1485900" y="20116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endParaRPr lang="en-US" sz="176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Non-Stationarity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657600"/>
            <a:ext cx="214884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1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every agent updates its policy, the environment looks different at each step from any one agent's perspective.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4F6FC"/>
          </a:solidFill>
        </p:spPr>
      </p:sp>
      <p:sp>
        <p:nvSpPr>
          <p:cNvPr id="10" name="Shape 8"/>
          <p:cNvSpPr/>
          <p:nvPr/>
        </p:nvSpPr>
        <p:spPr>
          <a:xfrm>
            <a:off x="4320540" y="2011680"/>
            <a:ext cx="731520" cy="731520"/>
          </a:xfrm>
          <a:prstGeom prst="ellipse">
            <a:avLst/>
          </a:prstGeom>
          <a:solidFill>
            <a:srgbClr val="2C7A7B"/>
          </a:solidFill>
        </p:spPr>
      </p:sp>
      <p:sp>
        <p:nvSpPr>
          <p:cNvPr id="11" name="Text 9"/>
          <p:cNvSpPr/>
          <p:nvPr/>
        </p:nvSpPr>
        <p:spPr>
          <a:xfrm>
            <a:off x="4320540" y="20116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760" dirty="0"/>
          </a:p>
        </p:txBody>
      </p:sp>
      <p:sp>
        <p:nvSpPr>
          <p:cNvPr id="12" name="Text 10"/>
          <p:cNvSpPr/>
          <p:nvPr/>
        </p:nvSpPr>
        <p:spPr>
          <a:xfrm>
            <a:off x="3520440" y="292608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Credit Assignment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3657600"/>
            <a:ext cx="214884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1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a team reward is shared, isolating each agent's individual contribution to the outcome is difficult.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4F6FC"/>
          </a:solidFill>
        </p:spPr>
      </p:sp>
      <p:sp>
        <p:nvSpPr>
          <p:cNvPr id="15" name="Shape 13"/>
          <p:cNvSpPr/>
          <p:nvPr/>
        </p:nvSpPr>
        <p:spPr>
          <a:xfrm>
            <a:off x="7155180" y="2011680"/>
            <a:ext cx="731520" cy="7315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7155180" y="20116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endParaRPr lang="en-US" sz="1760" dirty="0"/>
          </a:p>
        </p:txBody>
      </p:sp>
      <p:sp>
        <p:nvSpPr>
          <p:cNvPr id="17" name="Text 15"/>
          <p:cNvSpPr/>
          <p:nvPr/>
        </p:nvSpPr>
        <p:spPr>
          <a:xfrm>
            <a:off x="6355080" y="292608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3657600"/>
            <a:ext cx="214884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1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joint action space grows exponentially with the number of agents, making exact methods intractable.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16916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4F6FC"/>
          </a:solidFill>
        </p:spPr>
      </p:sp>
      <p:sp>
        <p:nvSpPr>
          <p:cNvPr id="20" name="Shape 18"/>
          <p:cNvSpPr/>
          <p:nvPr/>
        </p:nvSpPr>
        <p:spPr>
          <a:xfrm>
            <a:off x="9989820" y="2011680"/>
            <a:ext cx="731520" cy="731520"/>
          </a:xfrm>
          <a:prstGeom prst="ellipse">
            <a:avLst/>
          </a:prstGeom>
          <a:solidFill>
            <a:srgbClr val="8E44AD"/>
          </a:solidFill>
        </p:spPr>
      </p:sp>
      <p:sp>
        <p:nvSpPr>
          <p:cNvPr id="21" name="Text 19"/>
          <p:cNvSpPr/>
          <p:nvPr/>
        </p:nvSpPr>
        <p:spPr>
          <a:xfrm>
            <a:off x="9989820" y="20116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</a:t>
            </a:r>
            <a:endParaRPr lang="en-US" sz="1760" dirty="0"/>
          </a:p>
        </p:txBody>
      </p:sp>
      <p:sp>
        <p:nvSpPr>
          <p:cNvPr id="22" name="Text 20"/>
          <p:cNvSpPr/>
          <p:nvPr/>
        </p:nvSpPr>
        <p:spPr>
          <a:xfrm>
            <a:off x="9189720" y="292608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Partial Observability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81160" y="3657600"/>
            <a:ext cx="214884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1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Agents typically see only a local view of the state, not the full global picture.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Types of Multi-Agent Settings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2C7A7B"/>
          </a:solidFill>
        </p:spPr>
      </p:sp>
      <p:sp>
        <p:nvSpPr>
          <p:cNvPr id="5" name="Text 3"/>
          <p:cNvSpPr/>
          <p:nvPr/>
        </p:nvSpPr>
        <p:spPr>
          <a:xfrm>
            <a:off x="777240" y="196596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Cooperative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306324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Agents share a common goal and a joint (or aligned) reward — e.g. a robot swarm completing a task together.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4937760"/>
            <a:ext cx="306324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07492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5330952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MADDPG, QMIX, VDN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E8622C"/>
          </a:solidFill>
        </p:spPr>
      </p:sp>
      <p:sp>
        <p:nvSpPr>
          <p:cNvPr id="11" name="Text 9"/>
          <p:cNvSpPr/>
          <p:nvPr/>
        </p:nvSpPr>
        <p:spPr>
          <a:xfrm>
            <a:off x="4617720" y="196596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Competitive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2697480"/>
            <a:ext cx="306324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Agents have opposing objectives; one agent's gain is another's loss, as in zero-sum games.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17720" y="4937760"/>
            <a:ext cx="306324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507492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17720" y="5330952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Self-play, Minimax-Q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169164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E2761"/>
          </a:solidFill>
        </p:spPr>
      </p:sp>
      <p:sp>
        <p:nvSpPr>
          <p:cNvPr id="17" name="Text 15"/>
          <p:cNvSpPr/>
          <p:nvPr/>
        </p:nvSpPr>
        <p:spPr>
          <a:xfrm>
            <a:off x="8458200" y="196596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Mixed (General-Sum)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58200" y="2697480"/>
            <a:ext cx="306324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Agents partially cooperate and partially compete, similar to real-world multi-party interactions.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458200" y="4937760"/>
            <a:ext cx="306324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507492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458200" y="5330952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COMA, Nash-Q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PARADIGM — CTDE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Centralized Training, Decentralized Execution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C4A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dominant paradigm in modern MARL: agents are trained with access to global information, but act using only local observations once deployed.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108960" y="2331720"/>
            <a:ext cx="594360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3108960" y="242316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CENTRALIZED CRITIC (Training Time)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0" y="2743200"/>
            <a:ext cx="53949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Sees global state + all agents' actions to guide learning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280160" y="470916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 w="15875">
            <a:solidFill>
              <a:srgbClr val="E862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470916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1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Policy π₁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flipV="1">
            <a:off x="2194560" y="3611880"/>
            <a:ext cx="3886200" cy="1097280"/>
          </a:xfrm>
          <a:prstGeom prst="line">
            <a:avLst/>
          </a:prstGeom>
          <a:noFill/>
          <a:ln w="15875">
            <a:solidFill>
              <a:srgbClr val="5A617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297680" y="470916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 w="15875">
            <a:solidFill>
              <a:srgbClr val="E862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470916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2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Policy π₂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flipV="1">
            <a:off x="5212080" y="3611880"/>
            <a:ext cx="868680" cy="1097280"/>
          </a:xfrm>
          <a:prstGeom prst="line">
            <a:avLst/>
          </a:prstGeom>
          <a:noFill/>
          <a:ln w="15875">
            <a:solidFill>
              <a:srgbClr val="5A617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315200" y="470916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 w="15875">
            <a:solidFill>
              <a:srgbClr val="E862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470916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3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Policy π₃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V="1">
            <a:off x="6080760" y="3611880"/>
            <a:ext cx="2148840" cy="1097280"/>
          </a:xfrm>
          <a:prstGeom prst="line">
            <a:avLst/>
          </a:prstGeom>
          <a:noFill/>
          <a:ln w="15875">
            <a:solidFill>
              <a:srgbClr val="5A617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0058400" y="470916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 w="15875">
            <a:solidFill>
              <a:srgbClr val="E862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0" y="470916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4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Policy π₄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flipV="1">
            <a:off x="6080760" y="3611880"/>
            <a:ext cx="4892040" cy="1097280"/>
          </a:xfrm>
          <a:prstGeom prst="line">
            <a:avLst/>
          </a:prstGeom>
          <a:noFill/>
          <a:ln w="15875">
            <a:solidFill>
              <a:srgbClr val="5A6178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48640" y="61722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1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execution time each agent acts independently using only its own local observation.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Popular MARL Algorithms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8640" y="1691640"/>
          <a:ext cx="11064240" cy="4663440"/>
        </p:xfrm>
        <a:graphic>
          <a:graphicData uri="http://schemas.openxmlformats.org/drawingml/2006/table">
            <a:tbl>
              <a:tblPr/>
              <a:tblGrid>
                <a:gridCol w="1737360"/>
                <a:gridCol w="2194560"/>
                <a:gridCol w="7132320"/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Key Idea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MADDPG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Cooperative / Mixed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Centralized critic per agent with decentralized actor networks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QMIX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Cooperative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Mixes per-agent Q-values via a monotonic network for joint action-value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VDN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Cooperative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Decomposes team Q-value as a simple sum of individual agent values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COMA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Cooperative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Counterfactual baseline isolates each agent's true contribution to the reward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MAPPO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Cooperative / General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Multi-agent extension of PPO with a centralized value function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ENABLING TEAMWORK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Communication &amp; Coordination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C4A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Beyond acting on observations, many MARL approaches let agents exchange information to coordinate behavior more effectively.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685800" y="23317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1417320" y="2286000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Explicit Messaging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663440" y="2286000"/>
            <a:ext cx="67665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Agents send learned or structured messages to teammates (e.g. CommNet, RIAL/DIAL) before acting.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108960"/>
            <a:ext cx="10744200" cy="0"/>
          </a:xfrm>
          <a:prstGeom prst="line">
            <a:avLst/>
          </a:prstGeom>
          <a:noFill/>
          <a:ln w="12700">
            <a:solidFill>
              <a:srgbClr val="E2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11" name="Text 9"/>
          <p:cNvSpPr/>
          <p:nvPr/>
        </p:nvSpPr>
        <p:spPr>
          <a:xfrm>
            <a:off x="685800" y="32918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1417320" y="3246120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Attention Mechanisms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63440" y="3246120"/>
            <a:ext cx="67665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Agents learn to selectively attend to the most relevant teammates' states (e.g. ATOC, TarMAC).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069080"/>
            <a:ext cx="10744200" cy="0"/>
          </a:xfrm>
          <a:prstGeom prst="line">
            <a:avLst/>
          </a:prstGeom>
          <a:noFill/>
          <a:ln w="12700">
            <a:solidFill>
              <a:srgbClr val="E2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25196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685800" y="42519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1417320" y="4206240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Emergent Communication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63440" y="4206240"/>
            <a:ext cx="67665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Communication protocols arise naturally from the training objective rather than being hand-designed.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5029200"/>
            <a:ext cx="10744200" cy="0"/>
          </a:xfrm>
          <a:prstGeom prst="line">
            <a:avLst/>
          </a:prstGeom>
          <a:noFill/>
          <a:ln w="12700">
            <a:solidFill>
              <a:srgbClr val="E2E5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5212080"/>
            <a:ext cx="502920" cy="502920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21" name="Text 19"/>
          <p:cNvSpPr/>
          <p:nvPr/>
        </p:nvSpPr>
        <p:spPr>
          <a:xfrm>
            <a:off x="685800" y="5212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1417320" y="5166360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Implicit Coordination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63440" y="5166360"/>
            <a:ext cx="67665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Agents coordinate purely through observed behavior, without any direct message passing.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MARL IS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Real-World Applications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Robotic Swarms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1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Coordinated warehouse robots and drone fleets performing joint tasks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</p:spPr>
      </p:sp>
      <p:sp>
        <p:nvSpPr>
          <p:cNvPr id="10" name="Shape 8"/>
          <p:cNvSpPr/>
          <p:nvPr/>
        </p:nvSpPr>
        <p:spPr>
          <a:xfrm>
            <a:off x="4553712" y="1920240"/>
            <a:ext cx="502920" cy="502920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11" name="Text 9"/>
          <p:cNvSpPr/>
          <p:nvPr/>
        </p:nvSpPr>
        <p:spPr>
          <a:xfrm>
            <a:off x="4553712" y="1920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4553712" y="256032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Autonomous Driving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53712" y="292608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1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Fleets of vehicles negotiating traffic, lane changes, and intersections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01584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</p:spPr>
      </p:sp>
      <p:sp>
        <p:nvSpPr>
          <p:cNvPr id="15" name="Shape 13"/>
          <p:cNvSpPr/>
          <p:nvPr/>
        </p:nvSpPr>
        <p:spPr>
          <a:xfrm>
            <a:off x="8330184" y="1920240"/>
            <a:ext cx="502920" cy="502920"/>
          </a:xfrm>
          <a:prstGeom prst="ellipse">
            <a:avLst/>
          </a:prstGeom>
          <a:solidFill>
            <a:srgbClr val="2C7A7B"/>
          </a:solidFill>
        </p:spPr>
      </p:sp>
      <p:sp>
        <p:nvSpPr>
          <p:cNvPr id="16" name="Text 14"/>
          <p:cNvSpPr/>
          <p:nvPr/>
        </p:nvSpPr>
        <p:spPr>
          <a:xfrm>
            <a:off x="8330184" y="1920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8330184" y="256032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Game AI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30184" y="292608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1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Team-based strategy games such as StarCraft II and Dota 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13632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</p:spPr>
      </p:sp>
      <p:sp>
        <p:nvSpPr>
          <p:cNvPr id="20" name="Shape 18"/>
          <p:cNvSpPr/>
          <p:nvPr/>
        </p:nvSpPr>
        <p:spPr>
          <a:xfrm>
            <a:off x="777240" y="4142232"/>
            <a:ext cx="502920" cy="502920"/>
          </a:xfrm>
          <a:prstGeom prst="ellipse">
            <a:avLst/>
          </a:prstGeom>
          <a:solidFill>
            <a:srgbClr val="8E44AD"/>
          </a:solidFill>
        </p:spPr>
      </p:sp>
      <p:sp>
        <p:nvSpPr>
          <p:cNvPr id="21" name="Text 19"/>
          <p:cNvSpPr/>
          <p:nvPr/>
        </p:nvSpPr>
        <p:spPr>
          <a:xfrm>
            <a:off x="777240" y="414223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777240" y="478231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Traffic Signal Control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5148072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1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Networked intersections that jointly optimize city-wide traffic flow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25112" y="3913632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</p:spPr>
      </p:sp>
      <p:sp>
        <p:nvSpPr>
          <p:cNvPr id="25" name="Shape 23"/>
          <p:cNvSpPr/>
          <p:nvPr/>
        </p:nvSpPr>
        <p:spPr>
          <a:xfrm>
            <a:off x="4553712" y="4142232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6" name="Text 24"/>
          <p:cNvSpPr/>
          <p:nvPr/>
        </p:nvSpPr>
        <p:spPr>
          <a:xfrm>
            <a:off x="4553712" y="414223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10" dirty="0"/>
          </a:p>
        </p:txBody>
      </p:sp>
      <p:sp>
        <p:nvSpPr>
          <p:cNvPr id="27" name="Text 25"/>
          <p:cNvSpPr/>
          <p:nvPr/>
        </p:nvSpPr>
        <p:spPr>
          <a:xfrm>
            <a:off x="4553712" y="478231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Resource Allocation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53712" y="5148072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1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Distributed control of power grids and wireless network resources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01584" y="3913632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</p:spPr>
      </p:sp>
      <p:sp>
        <p:nvSpPr>
          <p:cNvPr id="30" name="Shape 28"/>
          <p:cNvSpPr/>
          <p:nvPr/>
        </p:nvSpPr>
        <p:spPr>
          <a:xfrm>
            <a:off x="8330184" y="4142232"/>
            <a:ext cx="502920" cy="502920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31" name="Text 29"/>
          <p:cNvSpPr/>
          <p:nvPr/>
        </p:nvSpPr>
        <p:spPr>
          <a:xfrm>
            <a:off x="8330184" y="414223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10" dirty="0"/>
          </a:p>
        </p:txBody>
      </p:sp>
      <p:sp>
        <p:nvSpPr>
          <p:cNvPr id="32" name="Text 30"/>
          <p:cNvSpPr/>
          <p:nvPr/>
        </p:nvSpPr>
        <p:spPr>
          <a:xfrm>
            <a:off x="8330184" y="478231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Multi-Robot Exploration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30184" y="5148072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1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Teams of robots mapping unknown environments cooperatively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DIRECTIONS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Open Challenges &amp; Research Frontiers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5" name="Text 3"/>
          <p:cNvSpPr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618488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Scaling learning and communication to hundreds or thousands of agents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65760" cy="365760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8" name="Text 6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487168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 theoretical guarantees for convergence and equilibrium in general-sum games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365760" cy="365760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11" name="Text 9"/>
          <p:cNvSpPr/>
          <p:nvPr/>
        </p:nvSpPr>
        <p:spPr>
          <a:xfrm>
            <a:off x="548640" y="34290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355848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Improving sample efficiency, since multi-agent training requires far more experience than single-agent RL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365760" cy="365760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14" name="Text 12"/>
          <p:cNvSpPr/>
          <p:nvPr/>
        </p:nvSpPr>
        <p:spPr>
          <a:xfrm>
            <a:off x="548640" y="4297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224528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Ensuring safety, robustness, and fairness when agents are deployed among humans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365760" cy="365760"/>
          </a:xfrm>
          <a:prstGeom prst="ellipse">
            <a:avLst/>
          </a:prstGeom>
          <a:solidFill>
            <a:srgbClr val="E8622C"/>
          </a:solidFill>
        </p:spPr>
      </p:sp>
      <p:sp>
        <p:nvSpPr>
          <p:cNvPr id="17" name="Text 15"/>
          <p:cNvSpPr/>
          <p:nvPr/>
        </p:nvSpPr>
        <p:spPr>
          <a:xfrm>
            <a:off x="548640" y="51663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5093208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Generalizing trained policies to unseen team compositions and opponents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C4A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Multi-Agent Reinforcement Learning brings reinforcement learning to environments shared by many decision-makers, unlocking coordination and competition at scale.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6FC"/>
          </a:solidFill>
        </p:spPr>
      </p:sp>
      <p:sp>
        <p:nvSpPr>
          <p:cNvPr id="6" name="Shape 4"/>
          <p:cNvSpPr/>
          <p:nvPr/>
        </p:nvSpPr>
        <p:spPr>
          <a:xfrm>
            <a:off x="731520" y="2834640"/>
            <a:ext cx="548640" cy="914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731520" y="306324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Foundation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224028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Modeled formally as a Markov (stochastic) game with N interacting agents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260604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6FC"/>
          </a:solidFill>
        </p:spPr>
      </p:sp>
      <p:sp>
        <p:nvSpPr>
          <p:cNvPr id="10" name="Shape 8"/>
          <p:cNvSpPr/>
          <p:nvPr/>
        </p:nvSpPr>
        <p:spPr>
          <a:xfrm>
            <a:off x="3566160" y="2834640"/>
            <a:ext cx="548640" cy="91440"/>
          </a:xfrm>
          <a:prstGeom prst="roundRect">
            <a:avLst>
              <a:gd name="adj" fmla="val 50000"/>
            </a:avLst>
          </a:prstGeom>
          <a:solidFill>
            <a:srgbClr val="E8622C"/>
          </a:solidFill>
        </p:spPr>
      </p:sp>
      <p:sp>
        <p:nvSpPr>
          <p:cNvPr id="11" name="Text 9"/>
          <p:cNvSpPr/>
          <p:nvPr/>
        </p:nvSpPr>
        <p:spPr>
          <a:xfrm>
            <a:off x="3566160" y="306324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Challenge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66160" y="3566160"/>
            <a:ext cx="224028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Non-stationarity, credit assignment, and scalability remain the central difficulties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60604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6FC"/>
          </a:solidFill>
        </p:spPr>
      </p:sp>
      <p:sp>
        <p:nvSpPr>
          <p:cNvPr id="14" name="Shape 12"/>
          <p:cNvSpPr/>
          <p:nvPr/>
        </p:nvSpPr>
        <p:spPr>
          <a:xfrm>
            <a:off x="6400800" y="2834640"/>
            <a:ext cx="548640" cy="91440"/>
          </a:xfrm>
          <a:prstGeom prst="roundRect">
            <a:avLst>
              <a:gd name="adj" fmla="val 50000"/>
            </a:avLst>
          </a:prstGeom>
          <a:solidFill>
            <a:srgbClr val="2C7A7B"/>
          </a:solidFill>
        </p:spPr>
      </p:sp>
      <p:sp>
        <p:nvSpPr>
          <p:cNvPr id="15" name="Text 13"/>
          <p:cNvSpPr/>
          <p:nvPr/>
        </p:nvSpPr>
        <p:spPr>
          <a:xfrm>
            <a:off x="6400800" y="306324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Solution Trend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0" y="3566160"/>
            <a:ext cx="224028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Centralized Training, Decentralized Execution (CTDE) dominates current practice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52560" y="260604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6FC"/>
          </a:solidFill>
        </p:spPr>
      </p:sp>
      <p:sp>
        <p:nvSpPr>
          <p:cNvPr id="18" name="Shape 16"/>
          <p:cNvSpPr/>
          <p:nvPr/>
        </p:nvSpPr>
        <p:spPr>
          <a:xfrm>
            <a:off x="9235440" y="2834640"/>
            <a:ext cx="548640" cy="91440"/>
          </a:xfrm>
          <a:prstGeom prst="roundRect">
            <a:avLst>
              <a:gd name="adj" fmla="val 50000"/>
            </a:avLst>
          </a:prstGeom>
          <a:solidFill>
            <a:srgbClr val="8E44AD"/>
          </a:solidFill>
        </p:spPr>
      </p:sp>
      <p:sp>
        <p:nvSpPr>
          <p:cNvPr id="19" name="Text 17"/>
          <p:cNvSpPr/>
          <p:nvPr/>
        </p:nvSpPr>
        <p:spPr>
          <a:xfrm>
            <a:off x="9235440" y="306324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Impact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235440" y="3566160"/>
            <a:ext cx="224028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Already powering robotics, autonomous driving, game AI, and smart infrastructure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Littman, M. L. (1994). Markov games as a framework for multi-agent reinforcement learning. ICML.</a:t>
            </a:r>
            <a:endParaRPr lang="en-US" sz="135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Lowe, R. et al. (2017). Multi-Agent Actor-Critic for Mixed Cooperative-Competitive Environments (MADDPG). NeurIPS.</a:t>
            </a:r>
            <a:endParaRPr lang="en-US" sz="135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Rashid, T. et al. (2018). QMIX: Monotonic Value Function Factorisation for Deep Multi-Agent RL. ICML.</a:t>
            </a:r>
            <a:endParaRPr lang="en-US" sz="135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Foerster, J. et al. (2018). Counterfactual Multi-Agent Policy Gradients (COMA). AAAI.</a:t>
            </a:r>
            <a:endParaRPr lang="en-US" sz="135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Yu, C. et al. (2022). The Surprising Effectiveness of PPO in Cooperative Multi-Agent Games (MAPPO). NeurIPS.</a:t>
            </a:r>
            <a:endParaRPr lang="en-US" sz="135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Zhang, K., Yang, Z., &amp; Basar, T. (2021). Multi-Agent Reinforcement Learning: A Selective Overview of Theories and Algorithms.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6273</Words>
  <Application>WPS Presentation</Application>
  <PresentationFormat>On-screen Show (16:9)</PresentationFormat>
  <Paragraphs>315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SimSun</vt:lpstr>
      <vt:lpstr>Wingdings</vt:lpstr>
      <vt:lpstr>Times New Roman</vt:lpstr>
      <vt:lpstr>Times New Roman</vt:lpstr>
      <vt:lpstr>Times New Roman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NITTA LOKESH</cp:lastModifiedBy>
  <cp:revision>2</cp:revision>
  <dcterms:created xsi:type="dcterms:W3CDTF">2026-08-26T04:08:00Z</dcterms:created>
  <dcterms:modified xsi:type="dcterms:W3CDTF">2026-09-02T17:40:19Z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C9B90F15A99D4B8AB8119E00BA668FDD_13</vt:lpwstr>
  </property>
  <property fmtid="{D5CDD505-2E9C-101B-9397-08002B2CF9AE}" pid="3" name="KSOProductBuildVer">
    <vt:lpwstr>1033-12.1.0.28032</vt:lpwstr>
  </property>
</Properties>
</file>